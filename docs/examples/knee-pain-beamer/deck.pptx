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9cb02eb8b4453" /><Relationship Type="http://schemas.openxmlformats.org/officeDocument/2006/relationships/extended-properties" Target="/docProps/app.xml" Id="Rec7cfe45211e4850" /><Relationship Type="http://schemas.openxmlformats.org/officeDocument/2006/relationships/officeDocument" Target="/ppt/presentation.xml" Id="R0b3b79e57abd4e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c5663bdd94c6e"/>
  </p:sldMasterIdLst>
  <p:notesMasterIdLst>
    <p:notesMasterId xmlns:r="http://schemas.openxmlformats.org/officeDocument/2006/relationships" r:id="R877f4c7884d04423"/>
  </p:notesMasterIdLst>
  <p:sldIdLst>
    <p:sldId xmlns:r="http://schemas.openxmlformats.org/officeDocument/2006/relationships" id="256" r:id="R417042a8f6864af2"/>
    <p:sldId xmlns:r="http://schemas.openxmlformats.org/officeDocument/2006/relationships" id="257" r:id="Re6a6c1260c254a63"/>
    <p:sldId xmlns:r="http://schemas.openxmlformats.org/officeDocument/2006/relationships" id="258" r:id="R021c8786f10f4c44"/>
    <p:sldId xmlns:r="http://schemas.openxmlformats.org/officeDocument/2006/relationships" id="259" r:id="R5f2629950cdd43ab"/>
    <p:sldId xmlns:r="http://schemas.openxmlformats.org/officeDocument/2006/relationships" id="260" r:id="R1f2916afd5734598"/>
    <p:sldId xmlns:r="http://schemas.openxmlformats.org/officeDocument/2006/relationships" id="261" r:id="Rbb854f82df7f4f04"/>
    <p:sldId xmlns:r="http://schemas.openxmlformats.org/officeDocument/2006/relationships" id="262" r:id="R4a86798b2aeb4bf6"/>
    <p:sldId xmlns:r="http://schemas.openxmlformats.org/officeDocument/2006/relationships" id="263" r:id="R975de87111f6454a"/>
    <p:sldId xmlns:r="http://schemas.openxmlformats.org/officeDocument/2006/relationships" id="264" r:id="Rdea0c55b61874793"/>
    <p:sldId xmlns:r="http://schemas.openxmlformats.org/officeDocument/2006/relationships" id="265" r:id="R664de5ef18ce41a9"/>
    <p:sldId xmlns:r="http://schemas.openxmlformats.org/officeDocument/2006/relationships" id="266" r:id="Rabbe16746e8c4bda"/>
    <p:sldId xmlns:r="http://schemas.openxmlformats.org/officeDocument/2006/relationships" id="267" r:id="Rf8e3422d695b416a"/>
    <p:sldId xmlns:r="http://schemas.openxmlformats.org/officeDocument/2006/relationships" id="268" r:id="Rc3f359298f7a406a"/>
    <p:sldId xmlns:r="http://schemas.openxmlformats.org/officeDocument/2006/relationships" id="269" r:id="Ra4651fd2ec794722"/>
    <p:sldId xmlns:r="http://schemas.openxmlformats.org/officeDocument/2006/relationships" id="270" r:id="Rdbd34338dc0a4d7c"/>
    <p:sldId xmlns:r="http://schemas.openxmlformats.org/officeDocument/2006/relationships" id="271" r:id="R1d96f795855448aa"/>
    <p:sldId xmlns:r="http://schemas.openxmlformats.org/officeDocument/2006/relationships" id="272" r:id="R14a5ad84ed3c41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9ae751405643fd" /><Relationship Type="http://schemas.openxmlformats.org/officeDocument/2006/relationships/slideMaster" Target="/ppt/slideMasters/slideMaster1.xml" Id="R919c5663bdd94c6e" /><Relationship Type="http://schemas.openxmlformats.org/officeDocument/2006/relationships/notesMaster" Target="/ppt/notesMasters/notesMaster1.xml" Id="R877f4c7884d04423" /><Relationship Type="http://schemas.openxmlformats.org/officeDocument/2006/relationships/presProps" Target="/ppt/presProps.xml" Id="R67284332b67343a1" /><Relationship Type="http://schemas.openxmlformats.org/officeDocument/2006/relationships/tableStyles" Target="/ppt/tableStyles.xml" Id="R885be89edd4a43c9" /><Relationship Type="http://schemas.openxmlformats.org/officeDocument/2006/relationships/slide" Target="/ppt/slides/slide1.xml" Id="R417042a8f6864af2" /><Relationship Type="http://schemas.openxmlformats.org/officeDocument/2006/relationships/slide" Target="/ppt/slides/slide2.xml" Id="Re6a6c1260c254a63" /><Relationship Type="http://schemas.openxmlformats.org/officeDocument/2006/relationships/slide" Target="/ppt/slides/slide3.xml" Id="R021c8786f10f4c44" /><Relationship Type="http://schemas.openxmlformats.org/officeDocument/2006/relationships/slide" Target="/ppt/slides/slide4.xml" Id="R5f2629950cdd43ab" /><Relationship Type="http://schemas.openxmlformats.org/officeDocument/2006/relationships/slide" Target="/ppt/slides/slide5.xml" Id="R1f2916afd5734598" /><Relationship Type="http://schemas.openxmlformats.org/officeDocument/2006/relationships/slide" Target="/ppt/slides/slide6.xml" Id="Rbb854f82df7f4f04" /><Relationship Type="http://schemas.openxmlformats.org/officeDocument/2006/relationships/slide" Target="/ppt/slides/slide7.xml" Id="R4a86798b2aeb4bf6" /><Relationship Type="http://schemas.openxmlformats.org/officeDocument/2006/relationships/slide" Target="/ppt/slides/slide8.xml" Id="R975de87111f6454a" /><Relationship Type="http://schemas.openxmlformats.org/officeDocument/2006/relationships/slide" Target="/ppt/slides/slide9.xml" Id="Rdea0c55b61874793" /><Relationship Type="http://schemas.openxmlformats.org/officeDocument/2006/relationships/slide" Target="/ppt/slides/slide10.xml" Id="R664de5ef18ce41a9" /><Relationship Type="http://schemas.openxmlformats.org/officeDocument/2006/relationships/slide" Target="/ppt/slides/slide11.xml" Id="Rabbe16746e8c4bda" /><Relationship Type="http://schemas.openxmlformats.org/officeDocument/2006/relationships/slide" Target="/ppt/slides/slide12.xml" Id="Rf8e3422d695b416a" /><Relationship Type="http://schemas.openxmlformats.org/officeDocument/2006/relationships/slide" Target="/ppt/slides/slide13.xml" Id="Rc3f359298f7a406a" /><Relationship Type="http://schemas.openxmlformats.org/officeDocument/2006/relationships/slide" Target="/ppt/slides/slide14.xml" Id="Ra4651fd2ec794722" /><Relationship Type="http://schemas.openxmlformats.org/officeDocument/2006/relationships/slide" Target="/ppt/slides/slide15.xml" Id="Rdbd34338dc0a4d7c" /><Relationship Type="http://schemas.openxmlformats.org/officeDocument/2006/relationships/slide" Target="/ppt/slides/slide16.xml" Id="R1d96f795855448aa" /><Relationship Type="http://schemas.openxmlformats.org/officeDocument/2006/relationships/slide" Target="/ppt/slides/slide17.xml" Id="R14a5ad84ed3c41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9d1fa45a68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07aa17275742a8" /><Relationship Type="http://schemas.openxmlformats.org/officeDocument/2006/relationships/notesMaster" Target="/ppt/notesMasters/notesMaster1.xml" Id="R7ed07d8ce7e647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d56b5ae734032" /><Relationship Type="http://schemas.openxmlformats.org/officeDocument/2006/relationships/notesMaster" Target="/ppt/notesMasters/notesMaster1.xml" Id="Rff33621be7b44a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2a271387ae48d6" /><Relationship Type="http://schemas.openxmlformats.org/officeDocument/2006/relationships/notesMaster" Target="/ppt/notesMasters/notesMaster1.xml" Id="Rde380e2388bb4a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35b36ddbc44eb" /><Relationship Type="http://schemas.openxmlformats.org/officeDocument/2006/relationships/notesMaster" Target="/ppt/notesMasters/notesMaster1.xml" Id="R2516034dd3a640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1cb4e408f2470a" /><Relationship Type="http://schemas.openxmlformats.org/officeDocument/2006/relationships/notesMaster" Target="/ppt/notesMasters/notesMaster1.xml" Id="Rf35f652bdd5c42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079e94088c47d6" /><Relationship Type="http://schemas.openxmlformats.org/officeDocument/2006/relationships/notesMaster" Target="/ppt/notesMasters/notesMaster1.xml" Id="R276ec4bea67641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0f9312ca1c4651" /><Relationship Type="http://schemas.openxmlformats.org/officeDocument/2006/relationships/notesMaster" Target="/ppt/notesMasters/notesMaster1.xml" Id="R90d894e6fd7f44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97b54d69d14bf0" /><Relationship Type="http://schemas.openxmlformats.org/officeDocument/2006/relationships/notesMaster" Target="/ppt/notesMasters/notesMaster1.xml" Id="R0b5c6a2990614d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79a601303c416b" /><Relationship Type="http://schemas.openxmlformats.org/officeDocument/2006/relationships/notesMaster" Target="/ppt/notesMasters/notesMaster1.xml" Id="R41e192223cd2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5972cc7870494b" /><Relationship Type="http://schemas.openxmlformats.org/officeDocument/2006/relationships/notesMaster" Target="/ppt/notesMasters/notesMaster1.xml" Id="R5305b267b23c47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4c39d34fad48d2" /><Relationship Type="http://schemas.openxmlformats.org/officeDocument/2006/relationships/notesMaster" Target="/ppt/notesMasters/notesMaster1.xml" Id="R9d4bd6f832804e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90ae46945c4108" /><Relationship Type="http://schemas.openxmlformats.org/officeDocument/2006/relationships/notesMaster" Target="/ppt/notesMasters/notesMaster1.xml" Id="R371d43f51cf24c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108633f36a4e5e" /><Relationship Type="http://schemas.openxmlformats.org/officeDocument/2006/relationships/notesMaster" Target="/ppt/notesMasters/notesMaster1.xml" Id="R997ef5f784eb43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1723ce9567449e" /><Relationship Type="http://schemas.openxmlformats.org/officeDocument/2006/relationships/notesMaster" Target="/ppt/notesMasters/notesMaster1.xml" Id="R057adfbc306b4a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7a7e621fe842c0" /><Relationship Type="http://schemas.openxmlformats.org/officeDocument/2006/relationships/notesMaster" Target="/ppt/notesMasters/notesMaster1.xml" Id="Rd30a5cdbd88648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9d2b8057064471" /><Relationship Type="http://schemas.openxmlformats.org/officeDocument/2006/relationships/notesMaster" Target="/ppt/notesMasters/notesMaster1.xml" Id="Rb7c282b2653a4e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da2431639d4a68" /><Relationship Type="http://schemas.openxmlformats.org/officeDocument/2006/relationships/notesMaster" Target="/ppt/notesMasters/notesMaster1.xml" Id="Rfcb673bc6c99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今天汇报一项膝骨关节炎影像研究，讨论怎样用患者报告的疼痛构建新的影像指标，并检验传统分级遗漏的信息。重点是学习目标的改变，以及围绕这一目标组织的差异分析和验证。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位置：论文全文题名与作者区</a:t>
            </a:r>
          </a:p>
          <a:p xmlns:a="http://schemas.openxmlformats.org/drawingml/2006/main">
            <a:r>
              <a:t>https://www.nature.com/articles/s41591-020-01192-7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来源：Nature Medicine. Journal Metrics: Journal Impact Factor 52.5 (2025). 核对日期：2026-10-18。</a:t>
            </a:r>
          </a:p>
          <a:p xmlns:a="http://schemas.openxmlformats.org/drawingml/2006/main">
            <a:r>
              <a:t>位置：Journal Impact Factor / Journal Citation Reports</a:t>
            </a:r>
          </a:p>
          <a:p xmlns:a="http://schemas.openxmlformats.org/drawingml/2006/main">
            <a:r>
              <a:t>https://www.nature.com/nm/journal-impact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第一作者 Emma Pierson 现任加州大学伯克利分校计算机科学助理教授。她研究统计学习和群体差异，2020 年以第一作者发表交通执法差异分析，2021 年以共同第一作者发表人群流动与传染病传播模型。这些工作共同关注数据与测量如何影响对群体差异的判断。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位置：Author information / Article notes</a:t>
            </a:r>
          </a:p>
          <a:p xmlns:a="http://schemas.openxmlformats.org/drawingml/2006/main">
            <a:r>
              <a:t>https://www.nature.com/articles/s41591-020-01192-7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来源：University of California, Berkeley, EECS. Emma Pierson faculty profile. 任职与头像核对日期：2026-10-18。</a:t>
            </a:r>
          </a:p>
          <a:p xmlns:a="http://schemas.openxmlformats.org/drawingml/2006/main">
            <a:r>
              <a:t>位置：Faculty profile / Biography</a:t>
            </a:r>
          </a:p>
          <a:p xmlns:a="http://schemas.openxmlformats.org/drawingml/2006/main">
            <a:r>
              <a:t>https://www2.eecs.berkeley.edu/Faculty/Homepages/emmapierson.html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Simoiu C, Overgoor J, et al. A large-scale analysis of racial disparities in police stops across the United States. Nature Human Behaviour. 2020;4:736–745.</a:t>
            </a:r>
          </a:p>
          <a:p xmlns:a="http://schemas.openxmlformats.org/drawingml/2006/main">
            <a:r>
              <a:t>位置：文章题名、作者署名、机构及摘要</a:t>
            </a:r>
          </a:p>
          <a:p xmlns:a="http://schemas.openxmlformats.org/drawingml/2006/main">
            <a:r>
              <a:t>https://pubmed.ncbi.nlm.nih.gov/32367028/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来源：Chang S, Pierson E, Koh PW, et al. Mobility network models of COVID-19 explain inequities and inform reopening. Nature. 2021;589:82–87.</a:t>
            </a:r>
          </a:p>
          <a:p xmlns:a="http://schemas.openxmlformats.org/drawingml/2006/main">
            <a:r>
              <a:t>位置：文章题名、作者署名、机构及摘要</a:t>
            </a:r>
          </a:p>
          <a:p xmlns:a="http://schemas.openxmlformats.org/drawingml/2006/main">
            <a:r>
              <a:t>https://www.nature.com/articles/s41586-020-2923-3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Simoiu C, Overgoor J, et al. A large-scale analysis of racial disparities in police stops across the United States. Nature Human Behaviour. 2020;4:736–745.</a:t>
            </a:r>
          </a:p>
          <a:p xmlns:a="http://schemas.openxmlformats.org/drawingml/2006/main">
            <a:r>
              <a:t>位置：已核对论文的题名与摘要</a:t>
            </a:r>
          </a:p>
          <a:p xmlns:a="http://schemas.openxmlformats.org/drawingml/2006/main">
            <a:r>
              <a:t>https://pubmed.ncbi.nlm.nih.gov/32367028/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来源：Chang S, Pierson E, Koh PW, et al. Mobility network models of COVID-19 explain inequities and inform reopening. Nature. 2021;589:82–87.</a:t>
            </a:r>
          </a:p>
          <a:p xmlns:a="http://schemas.openxmlformats.org/drawingml/2006/main">
            <a:r>
              <a:t>位置：已核对论文的题名与摘要</a:t>
            </a:r>
          </a:p>
          <a:p xmlns:a="http://schemas.openxmlformats.org/drawingml/2006/main">
            <a:r>
              <a:t>https://www.nature.com/articles/s41586-020-2923-3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膝骨关节炎的影像与症状经常存在失配。2018 年 Tiulpin 等已经用深度学习自动判读 KL 分级，目标是接近专家评分。本文改变了学习目标，直接预测患者报告的疼痛。作者关心的是：同样一张 X 线片，采用另一种测量方式后，原来留在统计模型中的群体疼痛差异会怎样变化。这使研究从自动判读延伸到对既有测量方式的检验。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来源：Tiulpin A, Thevenot J, Rahtu E, Lehenkari P, Saarakkala S. Automatic Knee Osteoarthritis Diagnosis from Plain Radiographs: A Deep Learning-Based Approach. Scientific Reports. 2018;8:1727.</a:t>
            </a:r>
          </a:p>
          <a:p xmlns:a="http://schemas.openxmlformats.org/drawingml/2006/main">
            <a:r>
              <a:t>位置：PubMed Abstract</a:t>
            </a:r>
          </a:p>
          <a:p xmlns:a="http://schemas.openxmlformats.org/drawingml/2006/main">
            <a:r>
              <a:t>https://pubmed.ncbi.nlm.nih.gov/29379060/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1–2、6 页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OAI 队列，包含有膝骨关节炎或处于高风险的 45 至 79 岁参与者。基线及 12、24、36、48 个月的数据合并后，每条记录对应某位患者的一侧膝在一个时点的影像与疼痛评分，共 36,369 条记录。训练与开发使用 2,877 人、25,049 条记录；最终验证使用另 1,295 人、11,320 条记录。原图左侧是探索阶段，右侧是模型和分析方案确定后的最终评估。划分以患者为单位，同一人的双膝和随访记录进入同一数据部分；统计区间也按患者聚类处理。这些是本研究验证结果的基础安排。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1–2、6、10 页；Table 1、Extended Data Figure 2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这项研究最值得展开的方法变化，是它怎样选择学习目标。既往的膝关节影像模型通常学习医师给出的 KL 等级，衡量成功的标准是与阅片结果一致。本文让模型学习患者自己的 KOOS 疼痛评分：分值范围是零到一百，分数越低表示疼痛越重。得到的 ALG-P 仍然仅由影像生成，代表影像中与患者症状相关的统计信息。这样，模型有机会捕捉常规分级之外、却与疼痛相关的影像特征。接下来的关键步骤，是把新指标带回群体差异分析，观察换一种测量方法会怎样改变对疼痛差异的解释。这里的方法贡献落在学习目标和测量问题的结合；网络结构使用的是成熟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6 页 / Study outcomes、Neural network training</a:t>
            </a:r>
          </a:p>
          <a:p xmlns:a="http://schemas.openxmlformats.org/drawingml/2006/main">
            <a:r>
              <a:t>https://www.nature.com/articles/s41591-020-01192-7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来源：Tiulpin A, Thevenot J, Rahtu E, Lehenkari P, Saarakkala S. Automatic Knee Osteoarthritis Diagnosis from Plain Radiographs: A Deep Learning-Based Approach. Scientific Reports. 2018;8:1727.</a:t>
            </a:r>
          </a:p>
          <a:p xmlns:a="http://schemas.openxmlformats.org/drawingml/2006/main">
            <a:r>
              <a:t>位置：Abstract</a:t>
            </a:r>
          </a:p>
          <a:p xmlns:a="http://schemas.openxmlformats.org/drawingml/2006/main">
            <a:r>
              <a:t>https://pubmed.ncbi.nlm.nih.gov/29379060/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输入是双膝固定屈曲位 X 线片。作者保留双膝，是因为两侧不对称可能携带疼痛信息；通过左右翻转，统一把预测目标放在图像右侧。图像标准化并缩放到 1,024 乘 1,024 像素。训练采用 ImageNet 预训练的 ResNet-18，在 OAI 上微调。损失函数同时包含疼痛误差与 19 项影像特征误差，辅助任务引导网络学习医学上相关的影像表征。这些医师特征用于训练监督，预测时输入仍是影像。超参数选择和早停依据开发集的疼痛 RMSE，最后集成表现最好的五个模型。联合学习在这里服务于结局导向的测量构建。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6 页 / Radiological images and preprocessing、Neural network training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这一步把影像预测接到临床研究问题上。作者先计算两个群体的平均疼痛差距，再拟合包含群体变量和严重程度指标的线性模型。严重程度依次使用 KLG 和 ALG-P；群体变量的系数就是控制该严重程度后的剩余疼痛差异。解释比例按原始差距减去调整后差距，再除以原始差距计算。以论文的种族比较为例，原始差距为 10.6 个 KOOS 点，加入 KLG 后为 9.7，加入 ALG-P 后为 6.1。根据原文未舍入的估计，解释比例分别是百分之九和百分之四十三。这个分析量衡量测量方式对统计差异解释的贡献。研究中患者实际报告的疼痛值保持原样，减少的是模型调整后的剩余差异。线性回归在这里是成熟工具，方法思路在于用新的影像测量重新检验差异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6–7 页 / Quantifying pain disparities；第 3 页 Table 2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比较两种指标时，一个重要问题是如何让比较公平。KLG 是五档等级，ALG-P 是连续预测，二者的尺度和灵活程度不同。作者先在训练开发集中用分类形式的 KLG 拟合疼痛，各等级有自己的系数，再把这个映射用于留出的验证集。这样，两种指标都在训练开发集完成学习，在同一验证集接受评估。随后，作者把 ALG-P 也划成五档，并使每档人数与 KLG 对应档相同，用这个版本重复分析，检验连续评分的粒度优势。针对群体与严重程度之间关系可能不同的问题，又检验了交互项，并按严重程度分层计算群体差距后加权汇总。各分析围绕同一个问题展开：新增解释量究竟来自新的影像信息，还是来自比较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6–7 页 / Quantifying pain disparities、Robustness check: ALG-P is not merely a more granular KLG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进一步追问，新指标为什么能解释更多疼痛差异。实验改变训练集的人群构成：一类训练集移除全部黑人参与者，另一类从非黑人参与者中随机移除同样数量的人，使两类训练集规模一致。第二种抽样重复五次，收入和教育人群也按同样思路分析。随后用相同验证框架比较预测表现和差异解释能力。图中蓝点表示 KLG，红点表示移除了目标人群的模型，黑点表示五次等规模、多样化训练的模型。保持样本规模一致，使比较聚焦人群构成本身。原文中，移除黑人参与者后的模型解释增量为 KLG 的 2.3 倍，多样化训练集的平均值为 4.9 倍。这个消融实验为训练数据的代表性提供了具体检验，属于验证设计的优点。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2–3、9 页；Extended Data Figure 1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热图通过一个具体操作产生：在影像上逐块遮挡，用平滑后的平均像素值替换局部区域，记录预测疼痛发生多大变化。作者在 32 乘 32 个网格位置重复这一过程。亮色表示遮挡该区对预测影响较大，示例中主要位于目标膝的关节间隙周围。热图提供位置线索，随后还要结合统计检验理解信号。作者在各人群内部比较预测性能，调整年龄、BMI、研究地点和既有影像特征；另用四个站点训练、第五站点验证，轮换评估跨地点表现。这些检查分别对应人群构成、已知病变和采集环境。完整验证链让新增信号的解释更具体，热图本身则呈现影像区域对模型预测的敏感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3、7–8 页；Figure 1；Visualizing image regions、Robustness checks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先看模型预测能力。独立保留的验证集上，ALG-P 的 Pearson R 平方为 0.16，百分之九十五置信区间为 0.13 到 0.19；KLG 为 0.10，区间为 0.08 到 0.13。RMSE 从 15.4 降到 14.9 个 KOOS 点。按论文采用的 KOOS 小于等于 86.1 分阈值识别重度疼痛时，AUC 从 0.64 提高到 0.69。预测能力的提升说明影像里存在常规分级之外的相关信息，同时，0.16 的解释度也说明个体疼痛仍有较大差异。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2、12 页；Extended Data Figure 4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这是主要研究结果。原始种族疼痛差距是 10.6 个 KOOS 点；KLG 调整后还剩 9.7，ALG-P 调整后剩 6.1。相应的解释比例是百分之九与百分之四十三，置信区间分别为百分之三到十六、百分之三十三到五十六。收入差异解释比例为百分之十六与三十二，教育差异为百分之八与三十。三种比较都指向同一现象：传统分级保留的疼痛相关信息较少，使用结局导向的影像指标后，更多群体差异与影像严重程度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3 页 Table 2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作者还进行了一个规则模拟：将严重疼痛与较高 KLG 组合，识别潜在置换候选膝，再把 KLG 换为人数分布相同的 ALG-P 档位。分析限于基线，排除了已有膝手术史的膝。黑人参与者潜在入选的膝比例从百分之十一变成百分之二十二，低收入和低教育人群也上升。两种指标把相同数量的膝分到较重等级，变化发生在具体哪些膝进入候选范围。这说明严重程度的测量选择会影响模拟规则下的人群构成；本文在这一部分报告的是筛选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4、7 页；Table 3、Allocation of arthroplasty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篇研究的意义在于把测量方式本身拿来检验。过去看到同等级影像下仍有明显疼痛差异，解释往往转向影像之外的因素；本文显示，改用面向疼痛训练的影像指标后，模型中的剩余差距明显缩小。由此得到的研究启发，是先审视我们选用的严重程度指标保留了哪些信息，再解释剩余差异。在自己的课题中，可以把患者报告结局作为独立目标，比较新旧指标，并检验不同人群的表现。临床治疗评价还应连接症状、结构及实际治疗后的结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1–4 页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本文的方法贡献首先体现在测量目标的选择。作者让患者报告的疼痛成为主要监督目标，再用影像生成的新指标检验传统 KL 分级的解释范围。这将临床症状与影像测量直接连接起来。第二个亮点是验证设计贴合问题。等量数据消融保持训练集规模一致，把人群构成的影响单独拿出来分析；评分对齐和五档比较检验尺度与粒度，分层和留站点分析则检验不同人群及采集环境中的表现。每项分析都对应一个具体解释，形成了连续的验证链。图表表达也服务于这条逻辑。扩展图一用固定行列和配色呈现对照条件与五次重复结果，读者可以同时看清实验怎样设置、结果是否一致。这些做法值得迁移到自己的结局预测和影像研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2–3、6–10 页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局限首先是个体预测精度。ALG-P 对疼痛的 R 平方为 0.16，比传统分级提供了更多信息，但个体疼痛中仍有较大比例的变异未被解释。它在本文中最直接的作用，是帮助研究者重新理解群体平均差异。其次，训练、患者留出和留站点验证都来自 OAI。这个队列纳入有骨关节炎或处于高风险的中老年人，影像也按标准化方式采集，因此病例结构、疾病谱与拍片质量是理解适用范围的关键。第三，模型解释和临床应用仍有各自的具体问题。遮挡热图显示了敏感区域，组织层面的对应关系需要更直接的测量；置换分析则按固定阈值模拟哪些膝进入候选范围。真实应用评价应把医生决策、患者症状变化与治疗风险作为明确结局，进一步检验这个测量工具的实际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来源：Pierson E, Cutler DM, Leskovec J, Mullainathan S, Obermeyer Z. An algorithmic approach to reducing unexplained pain disparities in underserved populations. Nature Medicine. 2021;27:136–140.</a:t>
            </a:r>
          </a:p>
          <a:p xmlns:a="http://schemas.openxmlformats.org/drawingml/2006/main">
            <a:r>
              <a:t>位置：PDF 第 4 页 / Study limitations；第 7–8 页 / Allocation、site validation</a:t>
            </a:r>
          </a:p>
          <a:p xmlns:a="http://schemas.openxmlformats.org/drawingml/2006/main">
            <a:r>
              <a:t>https://www.nature.com/articles/s41591-020-01192-7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感想方向包括结局导向的影像模型、训练样本代表性、我的课题中的测量偏差。选择一个方向，结合自己的研究问题填写。填写内容依次为“最值得借鉴的方法”、“与我的课题的联系”、“我会怎样验证”。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e3e029d1a4c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35923173a48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a6305ba8748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36c058b094c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57d48f6d74e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2729a51ab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0714E8-5102-4491-8EE5-08EFE1403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517D90-49C8-456F-9946-71C8349643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E7CD09-CBA4-4FBB-B716-45F22E4B4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AA6338-B239-437B-963D-7DCE43F0B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AAE1FF-4175-4DB2-8A24-5C148B1EF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A69C64-4A74-49B2-9391-DD8F1CB2E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821D56-83A9-452D-BBF6-80371CAA20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E815FE-9BD5-4715-82BA-8C9707F834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8112DC-C106-4C3A-99EA-63A54EFBF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7BACBC-E0B2-412D-9D7D-8E9AEBD861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388b9ae0d547c9" /><Relationship Type="http://schemas.openxmlformats.org/officeDocument/2006/relationships/slideLayout" Target="/ppt/slideLayouts/slideLayout1.xml" Id="R75d7354718124100" /><Relationship Type="http://schemas.openxmlformats.org/officeDocument/2006/relationships/slideLayout" Target="/ppt/slideLayouts/slideLayout2.xml" Id="Ra8cfd97c6982458d" /><Relationship Type="http://schemas.openxmlformats.org/officeDocument/2006/relationships/slideLayout" Target="/ppt/slideLayouts/slideLayout3.xml" Id="R336bc50f98df4634" /><Relationship Type="http://schemas.openxmlformats.org/officeDocument/2006/relationships/slideLayout" Target="/ppt/slideLayouts/slideLayout4.xml" Id="R8857147a183d4ed1" /><Relationship Type="http://schemas.openxmlformats.org/officeDocument/2006/relationships/slideLayout" Target="/ppt/slideLayouts/slideLayout5.xml" Id="Rc991530d3342489e" /><Relationship Type="http://schemas.openxmlformats.org/officeDocument/2006/relationships/slideLayout" Target="/ppt/slideLayouts/slideLayout6.xml" Id="R881a948c1f4e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7354718124100"/>
    <p:sldLayoutId xmlns:r="http://schemas.openxmlformats.org/officeDocument/2006/relationships" id="2147483650" r:id="Ra8cfd97c6982458d"/>
    <p:sldLayoutId xmlns:r="http://schemas.openxmlformats.org/officeDocument/2006/relationships" id="2147483651" r:id="R336bc50f98df4634"/>
    <p:sldLayoutId xmlns:r="http://schemas.openxmlformats.org/officeDocument/2006/relationships" id="2147483652" r:id="R8857147a183d4ed1"/>
    <p:sldLayoutId xmlns:r="http://schemas.openxmlformats.org/officeDocument/2006/relationships" id="2147483653" r:id="Rc991530d3342489e"/>
    <p:sldLayoutId xmlns:r="http://schemas.openxmlformats.org/officeDocument/2006/relationships" id="2147483654" r:id="R881a948c1f4e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775aa818149bd" /><Relationship Type="http://schemas.openxmlformats.org/officeDocument/2006/relationships/image" Target="/ppt/media/image.png" Id="R107673827e414255" /><Relationship Type="http://schemas.openxmlformats.org/officeDocument/2006/relationships/notesSlide" Target="/ppt/notesSlides/notesSlide1.xml" Id="R569bb89490664a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73052fa8f43a5" /><Relationship Type="http://schemas.openxmlformats.org/officeDocument/2006/relationships/image" Target="/ppt/media/image.jpeg" Id="Reba80e7f4f9e4924" /><Relationship Type="http://schemas.openxmlformats.org/officeDocument/2006/relationships/notesSlide" Target="/ppt/notesSlides/notesSlide2.xml" Id="R8ac3e1c2d5124c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27fc73dcf47a3" /><Relationship Type="http://schemas.openxmlformats.org/officeDocument/2006/relationships/notesSlide" Target="/ppt/notesSlides/notesSlide3.xml" Id="R44c3ba922960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40caac758470b" /><Relationship Type="http://schemas.openxmlformats.org/officeDocument/2006/relationships/image" Target="/ppt/media/image2.png" Id="R7c7f1def722c4eab" /><Relationship Type="http://schemas.openxmlformats.org/officeDocument/2006/relationships/notesSlide" Target="/ppt/notesSlides/notesSlide4.xml" Id="R4e2db6c48794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97fe9476c2478f" /><Relationship Type="http://schemas.openxmlformats.org/officeDocument/2006/relationships/notesSlide" Target="/ppt/notesSlides/notesSlide5.xml" Id="Rc56e0a9b86974e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f55c99a554857" /><Relationship Type="http://schemas.openxmlformats.org/officeDocument/2006/relationships/notesSlide" Target="/ppt/notesSlides/notesSlide6.xml" Id="Rf9f5a5f25bc14b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9040b18c546aa" /><Relationship Type="http://schemas.openxmlformats.org/officeDocument/2006/relationships/notesSlide" Target="/ppt/notesSlides/notesSlide7.xml" Id="R7be696666d3144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883b23ae74e82" /><Relationship Type="http://schemas.openxmlformats.org/officeDocument/2006/relationships/notesSlide" Target="/ppt/notesSlides/notesSlide8.xml" Id="Raec48a687d894a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0218dafcf43b7" /><Relationship Type="http://schemas.openxmlformats.org/officeDocument/2006/relationships/image" Target="/ppt/media/image3.png" Id="Rde13a08767a646e5" /><Relationship Type="http://schemas.openxmlformats.org/officeDocument/2006/relationships/notesSlide" Target="/ppt/notesSlides/notesSlide9.xml" Id="Rfba1843fe6944f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34e732faf4274" /><Relationship Type="http://schemas.openxmlformats.org/officeDocument/2006/relationships/image" Target="/ppt/media/image4.png" Id="R362a5c924a174882" /><Relationship Type="http://schemas.openxmlformats.org/officeDocument/2006/relationships/notesSlide" Target="/ppt/notesSlides/notesSlide10.xml" Id="Rec3625d9ba3540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e155ae6014291" /><Relationship Type="http://schemas.openxmlformats.org/officeDocument/2006/relationships/image" Target="/ppt/media/image5.png" Id="Rf0472461424945bf" /><Relationship Type="http://schemas.openxmlformats.org/officeDocument/2006/relationships/notesSlide" Target="/ppt/notesSlides/notesSlide11.xml" Id="Radb105b0d3a643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c34b981f941a3" /><Relationship Type="http://schemas.openxmlformats.org/officeDocument/2006/relationships/image" Target="/ppt/media/image6.png" Id="Raa57d3dcaea14732" /><Relationship Type="http://schemas.openxmlformats.org/officeDocument/2006/relationships/notesSlide" Target="/ppt/notesSlides/notesSlide12.xml" Id="R0602d49525ea40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c0a651fce4234" /><Relationship Type="http://schemas.openxmlformats.org/officeDocument/2006/relationships/image" Target="/ppt/media/image7.png" Id="R27a712150e23411a" /><Relationship Type="http://schemas.openxmlformats.org/officeDocument/2006/relationships/notesSlide" Target="/ppt/notesSlides/notesSlide13.xml" Id="Rb093c1ab4f944b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fa329b04b4c8d" /><Relationship Type="http://schemas.openxmlformats.org/officeDocument/2006/relationships/notesSlide" Target="/ppt/notesSlides/notesSlide14.xml" Id="R36c518bd18c847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e75937821412b" /><Relationship Type="http://schemas.openxmlformats.org/officeDocument/2006/relationships/notesSlide" Target="/ppt/notesSlides/notesSlide15.xml" Id="R6548cd6877d440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1e3135b474e87" /><Relationship Type="http://schemas.openxmlformats.org/officeDocument/2006/relationships/notesSlide" Target="/ppt/notesSlides/notesSlide16.xml" Id="R16c97ea79eb447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ac09389ae4a48" /><Relationship Type="http://schemas.openxmlformats.org/officeDocument/2006/relationships/notesSlide" Target="/ppt/notesSlides/notesSlide17.xml" Id="Rba0647d454d24e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ademic-paper_title">
            <a:extLst xmlns:a="http://schemas.openxmlformats.org/drawingml/2006/main">
              <a:ext uri="{FF2B5EF4-FFF2-40B4-BE49-F238E27FC236}">
                <a16:creationId xmlns:a16="http://schemas.microsoft.com/office/drawing/2014/main" id="{0EC5400E-4D10-4C18-80CA-1AEA2C4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58102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An algorithmic approach to</a:t>
            </a:r>
          </a:p>
          <a:p xmlns:a="http://schemas.openxmlformats.org/drawingml/2006/main">
            <a:pPr algn="l">
              <a:buNone/>
              <a:def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reducing unexplained pain</a:t>
            </a:r>
          </a:p>
          <a:p xmlns:a="http://schemas.openxmlformats.org/drawingml/2006/main">
            <a:pPr algn="l">
              <a:buNone/>
              <a:def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disparities in</a:t>
            </a:r>
          </a:p>
          <a:p xmlns:a="http://schemas.openxmlformats.org/drawingml/2006/main">
            <a:pPr algn="l">
              <a:buNone/>
              <a:def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underserved populations</a:t>
            </a:r>
          </a:p>
        </p:txBody>
      </p:sp>
      <p:sp>
        <p:nvSpPr>
          <p:cNvPr id="2" name="academic-journal">
            <a:extLst xmlns:a="http://schemas.openxmlformats.org/drawingml/2006/main">
              <a:ext uri="{FF2B5EF4-FFF2-40B4-BE49-F238E27FC236}">
                <a16:creationId xmlns:a16="http://schemas.microsoft.com/office/drawing/2014/main" id="{D7B7E114-9C3F-4576-842A-A6049768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EB811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0" i="0">
                <a:solidFill>
                  <a:srgbClr val="EB811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>
                <a:solidFill>
                  <a:srgbClr val="EB811B"/>
                </a:solidFill>
                <a:latin typeface="Hiragino Sans GB"/>
                <a:ea typeface="Hiragino Sans GB"/>
                <a:cs typeface="Hiragino Sans GB"/>
              </a:rPr>
              <a:t>期刊：Nature Medicine</a:t>
            </a:r>
          </a:p>
        </p:txBody>
      </p:sp>
      <p:sp>
        <p:nvSpPr>
          <p:cNvPr id="3" name="academic-impact_factor">
            <a:extLst xmlns:a="http://schemas.openxmlformats.org/drawingml/2006/main">
              <a:ext uri="{FF2B5EF4-FFF2-40B4-BE49-F238E27FC236}">
                <a16:creationId xmlns:a16="http://schemas.microsoft.com/office/drawing/2014/main" id="{9220A767-C733-4BF6-B1F5-76885183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IF：52.5（2025 年）</a:t>
            </a:r>
          </a:p>
        </p:txBody>
      </p:sp>
      <p:sp>
        <p:nvSpPr>
          <p:cNvPr id="4" name="academic-presenter_name">
            <a:extLst xmlns:a="http://schemas.openxmlformats.org/drawingml/2006/main">
              <a:ext uri="{FF2B5EF4-FFF2-40B4-BE49-F238E27FC236}">
                <a16:creationId xmlns:a16="http://schemas.microsoft.com/office/drawing/2014/main" id="{202EEA25-C2C4-43A4-8552-57AB4E9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演讲者：________________</a:t>
            </a:r>
          </a:p>
        </p:txBody>
      </p:sp>
      <p:sp>
        <p:nvSpPr>
          <p:cNvPr id="5" name="academic-presenter_date">
            <a:extLst xmlns:a="http://schemas.openxmlformats.org/drawingml/2006/main">
              <a:ext uri="{FF2B5EF4-FFF2-40B4-BE49-F238E27FC236}">
                <a16:creationId xmlns:a16="http://schemas.microsoft.com/office/drawing/2014/main" id="{F9B236E7-E2FE-4097-B794-4E5B272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日期：____________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9E276-C693-4A32-AEF1-BBEEF597A6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673827e414255"/>
          <a:stretch xmlns:a="http://schemas.openxmlformats.org/drawingml/2006/main"/>
        </p:blipFill>
        <p:spPr>
          <a:xfrm xmlns:a="http://schemas.openxmlformats.org/drawingml/2006/main">
            <a:off x="7067550" y="2841685"/>
            <a:ext cx="4438650" cy="7364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96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F9A87261-FDEA-41A4-B50C-0C53B45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作者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80A663F4-6E6E-41F3-A7E1-B46A16BB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简介</a:t>
            </a:r>
          </a:p>
        </p:txBody>
      </p:sp>
      <p:sp>
        <p:nvSpPr>
          <p:cNvPr id="4" name="academic-author_identity">
            <a:extLst xmlns:a="http://schemas.openxmlformats.org/drawingml/2006/main">
              <a:ext uri="{FF2B5EF4-FFF2-40B4-BE49-F238E27FC236}">
                <a16:creationId xmlns:a16="http://schemas.microsoft.com/office/drawing/2014/main" id="{C2CD215E-A7A9-4773-931F-8C988937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Emma Pierson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第一作者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计算机科学助理教授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加州大学伯克利分校</a:t>
            </a:r>
          </a:p>
        </p:txBody>
      </p:sp>
      <p:sp>
        <p:nvSpPr>
          <p:cNvPr id="5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77420779-B048-4379-BF18-AF817CD0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71818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据已发表论文归纳，其研究聚焦群体差异的统计测量及健康与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公共卫生建模，关注数据和测量方式怎样影响判断。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2020 年以第一作者发表《交通执法中的群体差异分析》（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Nature Human Behaviour）；2021 年以共同第一作者发表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《人群流动与传染病传播建模》（Nature）。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26C90-3AA8-4F46-9E24-DF7815E6E3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80e7f4f9e4924"/>
          <a:stretch xmlns:a="http://schemas.openxmlformats.org/drawingml/2006/main"/>
        </p:blipFill>
        <p:spPr>
          <a:xfrm xmlns:a="http://schemas.openxmlformats.org/drawingml/2006/main">
            <a:off x="952500" y="209550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67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背景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影像分级与疼痛差异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传统影像分级与患者疼痛存在失配。既往深度学习研究主要训练模型复现 KL 分级，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把医师评分作为学习目标。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本文以患者自报疼痛训练影像模型，再比较两种严重程度指标对群体疼痛差异的解释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能力，检验传统分级遗漏的信息。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28715485-32EA-4BAE-BF9F-86E0483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93593D65-2BA2-4EFF-A9F3-9FD1D92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研究流程</a:t>
            </a:r>
          </a:p>
        </p:txBody>
      </p:sp>
      <p:sp>
        <p:nvSpPr>
          <p:cNvPr id="4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14DF86CA-4A4A-4A1D-8745-C15F834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4172 名参与者，训练与开发 2877 人、最终验证 1295 人；按患者划分数据。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F29EE-5DBB-4EFA-B0EC-E375A4DF8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f1def722c4eab"/>
          <a:stretch xmlns:a="http://schemas.openxmlformats.org/drawingml/2006/main"/>
        </p:blipFill>
        <p:spPr>
          <a:xfrm xmlns:a="http://schemas.openxmlformats.org/drawingml/2006/main">
            <a:off x="1356608" y="1790700"/>
            <a:ext cx="9478784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58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以疼痛为学习目标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模型以膝关节 X 线片为输入，以患者的 KOOS 疼痛评分为主要学习目标。输出 ALG-P，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概括影像中与疼痛相关的信息。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这一改动让患者体验参与定义疾病严重程度。随后把 ALG-P 与 KL 分级放进同一套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差异分析，检验测量目标的改变带来了多少解释增量。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影像输入与联合训练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每次输入双膝图像，统一目标膝位于图像右侧；使用 ResNet-18 和迁移学习，同时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预测疼痛及 19 项影像特征。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疼痛预测误差决定模型选择，影像特征作为辅助学习任务。开发集用于调参，最终合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并表现最好的 5 个模型。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差异量化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先计算群体之间的平均疼痛差距，再分别加入 KLG 或 ALG-P 调整。调整后群体变量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的回归系数，表示给定影像严重程度后的剩余差异。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解释比例 =（原始差距 − 调整后差距）÷ 原始差距。用同一问题和同一验证人群，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比较两种测量方式保留了多少信息。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评分对齐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KLG 先在训练开发集中按五个等级分别拟合疼痛，再到验证集生成同尺度预测。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ALG-P 和 KLG 都接受独立验证集的检验。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进一步把 ALG-P 划成与 KLG 各等级人数一致的五档，比较相同粒度下的表现；并以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交互项和分层加权方法检验线性模型的假设。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28715485-32EA-4BAE-BF9F-86E0483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93593D65-2BA2-4EFF-A9F3-9FD1D92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等量数据消融</a:t>
            </a:r>
          </a:p>
        </p:txBody>
      </p:sp>
      <p:sp>
        <p:nvSpPr>
          <p:cNvPr id="4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14DF86CA-4A4A-4A1D-8745-C15F834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固定训练集规模，比较移除某一人群的模型与保留多样性的模型；后者重复随机抽样 5 次，以分离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样本数量与人群构成的影响。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57771-DF6C-4602-99D5-092745481E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3a08767a646e5"/>
          <a:stretch xmlns:a="http://schemas.openxmlformats.org/drawingml/2006/main"/>
        </p:blipFill>
        <p:spPr>
          <a:xfrm xmlns:a="http://schemas.openxmlformats.org/drawingml/2006/main">
            <a:off x="1749703" y="1790700"/>
            <a:ext cx="8692594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58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6FC7A837-49DC-46B5-BAD4-516589E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方法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61608ED6-2FBD-4FD9-96B7-4E72F17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信号来源检验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FBFBC44C-E97F-4069-93BD-49FB88E5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3340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逐区遮挡影像，观察疼痛预测变化；热区集中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于目标膝及关节间隙周围。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再检验同一人群内部的预测、已知影像特征调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整及留站点验证，逐层检查模型信息的来源。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B1A30-1E6A-442A-BC01-A6EAFE8D05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a5c924a174882"/>
          <a:stretch xmlns:a="http://schemas.openxmlformats.org/drawingml/2006/main"/>
        </p:blipFill>
        <p:spPr>
          <a:xfrm xmlns:a="http://schemas.openxmlformats.org/drawingml/2006/main">
            <a:off x="7205411" y="1752600"/>
            <a:ext cx="3953378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45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28715485-32EA-4BAE-BF9F-86E0483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结果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93593D65-2BA2-4EFF-A9F3-9FD1D92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疼痛预测</a:t>
            </a:r>
          </a:p>
        </p:txBody>
      </p:sp>
      <p:sp>
        <p:nvSpPr>
          <p:cNvPr id="4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14DF86CA-4A4A-4A1D-8745-C15F834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验证集 Pearson R² 为 0.16（ALG-P）与 0.10（KLG）；重度疼痛判别 AUC 为 0.69 与 0.64。模型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捕捉了额外影像信号。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5B656-737F-4533-80F4-4D904CE81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72461424945bf"/>
          <a:stretch xmlns:a="http://schemas.openxmlformats.org/drawingml/2006/main"/>
        </p:blipFill>
        <p:spPr>
          <a:xfrm xmlns:a="http://schemas.openxmlformats.org/drawingml/2006/main">
            <a:off x="685800" y="2275078"/>
            <a:ext cx="10820400" cy="29364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581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28715485-32EA-4BAE-BF9F-86E0483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结果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93593D65-2BA2-4EFF-A9F3-9FD1D92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差异解释</a:t>
            </a:r>
          </a:p>
        </p:txBody>
      </p:sp>
      <p:sp>
        <p:nvSpPr>
          <p:cNvPr id="4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14DF86CA-4A4A-4A1D-8745-C15F834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种族疼痛差距从 10.6 分，经 KLG 调整后为 9.7 分，经 ALG-P 调整后为 6.1 分；解释比例分别为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9% 与 43%。收入和教育分析方向一致。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77CB4-DB69-4150-9C45-51536EF2E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7d3dcaea14732"/>
          <a:stretch xmlns:a="http://schemas.openxmlformats.org/drawingml/2006/main"/>
        </p:blipFill>
        <p:spPr>
          <a:xfrm xmlns:a="http://schemas.openxmlformats.org/drawingml/2006/main">
            <a:off x="685800" y="1863005"/>
            <a:ext cx="10820400" cy="3760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58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28715485-32EA-4BAE-BF9F-86E0483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结果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93593D65-2BA2-4EFF-A9F3-9FD1D92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候选规则模拟</a:t>
            </a:r>
          </a:p>
        </p:txBody>
      </p:sp>
      <p:sp>
        <p:nvSpPr>
          <p:cNvPr id="4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14DF86CA-4A4A-4A1D-8745-C15F834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在保持严重程度档位人数一致的筛选模拟中，黑人参与者的潜在置换候选膝比例由 11% 变为 22%；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变化来自候选膝排序。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C1085-AF8A-4D3C-B55C-ABD8F548E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712150e23411a"/>
          <a:stretch xmlns:a="http://schemas.openxmlformats.org/drawingml/2006/main"/>
        </p:blipFill>
        <p:spPr>
          <a:xfrm xmlns:a="http://schemas.openxmlformats.org/drawingml/2006/main">
            <a:off x="2972994" y="1790700"/>
            <a:ext cx="6246011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581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讨论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测量与临床判断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本文把“影像严重程度如何定义”纳入了研究问题。面向疼痛学习的指标改变了对群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体差异的统计解释，提示传统分级遗漏了部分症状相关信息。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对骨科研究的启发，是让测量指标与患者关心的结局建立直接联系，并检验指标在人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群之间的表现。症状、结构和治疗结局共同构成临床评价。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亮点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学习目标与验证思路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本文以患者报告的疼痛构建影像严重程度指标，把学习目标与患者体验直接联系起来。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再将 ALG-P 与 KLG 放入同一差异分析，量化传统分级遗漏的信息。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验证设计围绕具体问题展开：等量数据消融分离样本数量与人群构成的影响，评分对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齐控制尺度和粒度差别，分层与留站点分析检查模型在不同人群和采集环境中的表现。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多面板原图以固定布局和配色呈现控制条件、五次重复抽样与结果，使读者可以沿着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研究问题理解证据，而每一步验证都有明确的解释对象。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局限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预测精度与应用距离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ALG-P 的 R² 为 0.16，对个体疼痛的解释度较低。它增加了群体差异中的影像信息，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但个体预测仍有较大误差，症状评估还包含影像之外的重要因素。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患者留出与留站点验证均来自 OAI 队列。队列的年龄、疾病风险与标准化拍片条件，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界定了现有结果覆盖的人群和场景；新机构的病例结构与图像质量可能改变模型表现。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热图定位的是对模型预测敏感的区域，具体组织学对应尚待明确。置换分析以阈值规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则下的候选膝比例为结局，实际决策、术后疼痛和并发症属于后续临床评价的核心内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容。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ademic-major">
            <a:extLst xmlns:a="http://schemas.openxmlformats.org/drawingml/2006/main">
              <a:ext uri="{FF2B5EF4-FFF2-40B4-BE49-F238E27FC236}">
                <a16:creationId xmlns:a16="http://schemas.microsoft.com/office/drawing/2014/main" id="{1EDA6C3A-D369-4F2A-8A91-6C563DFD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685800" tIns="180975" rIns="685800" bIns="11430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FAFAFA"/>
                </a:solidFill>
                <a:latin typeface="Hiragino Sans GB"/>
                <a:ea typeface="Hiragino Sans GB"/>
                <a:cs typeface="Hiragino Sans GB"/>
              </a:rPr>
              <a:t>感想</a:t>
            </a:r>
          </a:p>
        </p:txBody>
      </p:sp>
      <p:sp>
        <p:nvSpPr>
          <p:cNvPr id="2" name="academic-minor">
            <a:extLst xmlns:a="http://schemas.openxmlformats.org/drawingml/2006/main">
              <a:ext uri="{FF2B5EF4-FFF2-40B4-BE49-F238E27FC236}">
                <a16:creationId xmlns:a16="http://schemas.microsoft.com/office/drawing/2014/main" id="{2D7945BB-8D2A-46F8-80F7-01ACD98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选题方向</a:t>
            </a:r>
          </a:p>
        </p:txBody>
      </p:sp>
      <p:sp>
        <p:nvSpPr>
          <p:cNvPr id="3" name="academic-body">
            <a:extLst xmlns:a="http://schemas.openxmlformats.org/drawingml/2006/main">
              <a:ext uri="{FF2B5EF4-FFF2-40B4-BE49-F238E27FC236}">
                <a16:creationId xmlns:a16="http://schemas.microsoft.com/office/drawing/2014/main" id="{9AAF31E7-FB08-4CEE-8473-15E6C67B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可以选择结局导向的影像模型、训练样本代表性、我的课题中的测量偏差，把论文中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的一个发现与自己的工作联系起来，再提出下一步要验证的问题。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填写时可以依次回应“最值得借鉴的方法”、“与我的课题的联系”、“我会怎样验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 i="0">
                <a:solidFill>
                  <a:srgbClr val="23373B"/>
                </a:solidFill>
                <a:latin typeface="Hiragino Sans GB"/>
                <a:ea typeface="Hiragino Sans GB"/>
                <a:cs typeface="Hiragino Sans GB"/>
              </a:rPr>
              <a:t>证”，每个部分用一两句话展开。</a:t>
            </a:r>
          </a:p>
        </p:txBody>
      </p:sp>
    </p:spTree>
    <p:extLst>
      <p:ext uri="{BB962C8B-B14F-4D97-AF65-F5344CB8AC3E}">
        <p14:creationId xmlns:p14="http://schemas.microsoft.com/office/powerpoint/2010/main" val="688277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2026-10-18T09:27:18.3120000Z</dcterms:created>
  <dcterms:modified xsi:type="dcterms:W3CDTF">2026-10-18T09:27:18.3120000Z</dcterms:modified>
</coreProperties>
</file>